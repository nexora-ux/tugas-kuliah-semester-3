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618" autoAdjust="0"/>
  </p:normalViewPr>
  <p:slideViewPr>
    <p:cSldViewPr snapToGrid="0">
      <p:cViewPr varScale="1">
        <p:scale>
          <a:sx n="53" d="100"/>
          <a:sy n="53" d="100"/>
        </p:scale>
        <p:origin x="11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C80F3-CF74-480E-9FB3-1721137EC37D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E8A67-8F1A-49E0-85AE-7E25F05D99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947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3E8A67-8F1A-49E0-85AE-7E25F05D99D4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9186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8C73-4D3C-66B3-3B7C-DD70A4F60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41306-8EB6-9506-B09F-63FE9C5DE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15784-1C0E-FC9E-797C-D4184ECB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286D5-3653-95E5-5268-E55FAE61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CDE9-F553-B2D8-94BB-B41944F3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947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5A0D-CB26-6DD2-F8D2-A5BC1574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41858-DAD3-AA14-C00C-E0699E49F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83236-68BF-AFAA-4CF7-6A481A8A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C3A31-E08D-230D-939B-C3E760E7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60398-3EC3-DB15-B7C2-F2B7CAFE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340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5F81-3A55-179B-C1B5-77839885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FB1B0-203F-945B-159D-996313659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7CEDE-6D38-63A7-5605-38C04DD5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F57EB-5FAF-B274-97ED-67AF00F1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8E38-B05C-48B3-09F5-7D94073F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668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B0001-92FE-A0C2-BE8F-53FBB204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D57A4-C7ED-4151-34D6-2135F3755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EE4B8-A56F-4415-FC25-2FDA76E34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80E9E-C8FF-7159-35A9-43EB88C7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99B31-5448-3CF0-27D0-F40CF612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4E0EC-BA27-3624-93E9-0C74230B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813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09E6-7BAB-D600-65C6-190D0235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01543-4A3C-44B7-8364-2476360C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3D55-9613-72D3-F898-5F795D0B5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4EC08-CC6F-4195-4235-117FF0D9D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CB218-147A-CF2D-7E55-6687E3A8B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AAB12-9BF2-69E9-D73F-88FC3545C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EB3D3-6814-FB28-56C4-079E57EC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80957-531E-27AC-E3E0-7B510E06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8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3AA5-C70C-FABA-CE8A-AE6935B6C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CB5E7-6C34-1167-F446-AB9A6DF3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A3256-67D5-CA5A-1B99-786D62FC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E731E-16B9-9FFF-92F9-56F85BE8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031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F5C9D-2A32-D214-BDBF-307270C3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DB9C0-0F38-EEE0-2FA2-4242C7CD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F2F45-C9B9-087B-BF54-FCE18CB4B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0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CE34-F73E-6D0E-C8A2-9B6D76D6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0913-E8B4-B866-534D-105942892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A1ABA-3382-6A91-AD90-7B99312FF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D0F7B-E134-4028-F3F9-B6D826BF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E46E0-3693-ECBE-C322-A057C292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48BF7-CF04-FEF4-BFFE-71E96804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952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5599-94A3-E607-9342-ECAC98AF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4F2C6-67A7-E81A-755A-B46F47E26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177A4-CDF1-D048-0BD5-8D7CAF501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5CD27-0D1A-185D-EBE9-5F990C26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CC143-76A6-210F-1114-73E449B7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AED61-DB93-EDE8-26DE-9D57C47F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985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A75F-D16C-5098-6C5B-3CFEAA4B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F3CA-EBCA-A76F-FCEE-7C692E81A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E08BA-1599-728B-CC97-827B37D9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4DADA-1D23-B244-D49E-5CAEDF97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1AA4-BE79-FA39-1682-BC79413F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147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9636E-29FE-2C25-2B66-431F8C213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1E702-07D0-ADF9-99BA-2ACDF00ED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DD2A8-21B3-7BE5-B3D5-958BB58D8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DF444-449C-FAE2-7C64-0C5A56355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62983-2310-7224-DAB2-21F381C2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0242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A92AF-AA78-1BF1-351F-6C507385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2E39D-082A-A60A-4F09-25348F020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1430A-3C68-B456-AD6F-5EF4E2EF8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1F121-BFC1-4CE4-82CA-D3A659966D86}" type="datetimeFigureOut">
              <a:rPr lang="en-ID" smtClean="0"/>
              <a:t>27/10/2026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03C24-AC9D-E944-28D5-C5E9C16F66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E77D8-F753-39AF-D077-301508585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7C2DB-27C7-48A5-97E3-3248361833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707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279424-DF0A-4BD7-53CA-27C24201C311}"/>
              </a:ext>
            </a:extLst>
          </p:cNvPr>
          <p:cNvSpPr txBox="1"/>
          <p:nvPr/>
        </p:nvSpPr>
        <p:spPr>
          <a:xfrm>
            <a:off x="330926" y="330926"/>
            <a:ext cx="167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KARYA ILMIAH</a:t>
            </a:r>
            <a:endParaRPr lang="en-ID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F95F7F-D2CB-7060-8205-9323B865DC3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006256" y="515592"/>
            <a:ext cx="20345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C78A7B-61A2-E74A-968A-3E03535E06F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006256" y="515592"/>
            <a:ext cx="1973561" cy="842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64671F-8542-C259-81E1-F85712D346B7}"/>
              </a:ext>
            </a:extLst>
          </p:cNvPr>
          <p:cNvCxnSpPr>
            <a:cxnSpLocks/>
          </p:cNvCxnSpPr>
          <p:nvPr/>
        </p:nvCxnSpPr>
        <p:spPr>
          <a:xfrm>
            <a:off x="2035666" y="515592"/>
            <a:ext cx="1264883" cy="1487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633482-20EE-43CC-5CF3-2BF4978FB7FE}"/>
              </a:ext>
            </a:extLst>
          </p:cNvPr>
          <p:cNvSpPr txBox="1"/>
          <p:nvPr/>
        </p:nvSpPr>
        <p:spPr>
          <a:xfrm>
            <a:off x="4070187" y="330926"/>
            <a:ext cx="104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HAKIKAT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35D0F-B4FE-451E-E36B-F02365C5E870}"/>
              </a:ext>
            </a:extLst>
          </p:cNvPr>
          <p:cNvSpPr txBox="1"/>
          <p:nvPr/>
        </p:nvSpPr>
        <p:spPr>
          <a:xfrm>
            <a:off x="3979817" y="1173872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JENIS-JENIS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B5A05E-7D9F-5FDB-4710-4457B8117F1B}"/>
              </a:ext>
            </a:extLst>
          </p:cNvPr>
          <p:cNvSpPr txBox="1"/>
          <p:nvPr/>
        </p:nvSpPr>
        <p:spPr>
          <a:xfrm>
            <a:off x="3240275" y="2002971"/>
            <a:ext cx="148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SISTEMATIKA</a:t>
            </a:r>
            <a:endParaRPr lang="en-ID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77866-D609-8FA3-BDBE-2057F72B1A64}"/>
              </a:ext>
            </a:extLst>
          </p:cNvPr>
          <p:cNvCxnSpPr>
            <a:cxnSpLocks/>
          </p:cNvCxnSpPr>
          <p:nvPr/>
        </p:nvCxnSpPr>
        <p:spPr>
          <a:xfrm flipV="1">
            <a:off x="190730" y="3496294"/>
            <a:ext cx="6043749" cy="39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49856E-EC69-1D16-2FB8-0A58C7BB4A9F}"/>
              </a:ext>
            </a:extLst>
          </p:cNvPr>
          <p:cNvCxnSpPr>
            <a:cxnSpLocks/>
          </p:cNvCxnSpPr>
          <p:nvPr/>
        </p:nvCxnSpPr>
        <p:spPr>
          <a:xfrm flipH="1">
            <a:off x="5999667" y="47701"/>
            <a:ext cx="23246" cy="34879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10997775-4C7F-3052-155E-53D7F35B2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307" y="114454"/>
            <a:ext cx="2857500" cy="2857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9000" endPos="28000" dist="5000" dir="5400000" sy="-100000" algn="bl" rotWithShape="0"/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ECA199E-905D-CB97-C0B4-944027BB86CB}"/>
              </a:ext>
            </a:extLst>
          </p:cNvPr>
          <p:cNvSpPr txBox="1"/>
          <p:nvPr/>
        </p:nvSpPr>
        <p:spPr>
          <a:xfrm>
            <a:off x="6267463" y="1543204"/>
            <a:ext cx="2222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/>
              <a:t>Makalah Kami  bisa dilihat disini 🥀👉</a:t>
            </a:r>
            <a:endParaRPr lang="en-ID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919F60-D7F4-54BB-9602-E5D7C9A3B8AB}"/>
              </a:ext>
            </a:extLst>
          </p:cNvPr>
          <p:cNvSpPr txBox="1"/>
          <p:nvPr/>
        </p:nvSpPr>
        <p:spPr>
          <a:xfrm>
            <a:off x="330926" y="4568174"/>
            <a:ext cx="4068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KELOMPOK 3 : </a:t>
            </a:r>
            <a:r>
              <a:rPr lang="en-US" b="1" dirty="0"/>
              <a:t>1. KHAIRUL UMAM </a:t>
            </a:r>
          </a:p>
          <a:p>
            <a:r>
              <a:rPr lang="en-US" dirty="0"/>
              <a:t>                                2. Ahmad Nabil M</a:t>
            </a:r>
            <a:br>
              <a:rPr lang="en-US" dirty="0"/>
            </a:br>
            <a:r>
              <a:rPr lang="en-US" dirty="0"/>
              <a:t>                                3. M. </a:t>
            </a:r>
            <a:r>
              <a:rPr lang="en-US" dirty="0" err="1"/>
              <a:t>Fadilillah</a:t>
            </a:r>
            <a:br>
              <a:rPr lang="en-US" dirty="0"/>
            </a:br>
            <a:r>
              <a:rPr lang="en-US" dirty="0"/>
              <a:t>                                4. </a:t>
            </a:r>
            <a:r>
              <a:rPr lang="en-US" dirty="0" err="1"/>
              <a:t>Aiman</a:t>
            </a:r>
            <a:r>
              <a:rPr lang="en-US" dirty="0"/>
              <a:t> Sibghatullah M</a:t>
            </a:r>
            <a:endParaRPr lang="en-ID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A920C92-DC68-CB2B-163C-C726E9A76B74}"/>
              </a:ext>
            </a:extLst>
          </p:cNvPr>
          <p:cNvCxnSpPr/>
          <p:nvPr/>
        </p:nvCxnSpPr>
        <p:spPr>
          <a:xfrm flipH="1">
            <a:off x="3212604" y="3535678"/>
            <a:ext cx="3021875" cy="3466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2D7AE8-18A7-9EF3-2BF5-6AAEE4FBC4BE}"/>
              </a:ext>
            </a:extLst>
          </p:cNvPr>
          <p:cNvCxnSpPr/>
          <p:nvPr/>
        </p:nvCxnSpPr>
        <p:spPr>
          <a:xfrm>
            <a:off x="6234479" y="3480955"/>
            <a:ext cx="6027190" cy="19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EE8F7E0-8C57-829B-A45C-27222BD6A522}"/>
              </a:ext>
            </a:extLst>
          </p:cNvPr>
          <p:cNvCxnSpPr/>
          <p:nvPr/>
        </p:nvCxnSpPr>
        <p:spPr>
          <a:xfrm flipH="1">
            <a:off x="3979817" y="3535678"/>
            <a:ext cx="2751909" cy="33963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B18FEC-048F-26FA-9023-3A41264962C3}"/>
              </a:ext>
            </a:extLst>
          </p:cNvPr>
          <p:cNvCxnSpPr/>
          <p:nvPr/>
        </p:nvCxnSpPr>
        <p:spPr>
          <a:xfrm flipH="1">
            <a:off x="4399219" y="3535678"/>
            <a:ext cx="2889855" cy="35530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CFE9FD-7F02-620A-7E79-E0D7C8DBDF20}"/>
              </a:ext>
            </a:extLst>
          </p:cNvPr>
          <p:cNvCxnSpPr>
            <a:cxnSpLocks/>
          </p:cNvCxnSpPr>
          <p:nvPr/>
        </p:nvCxnSpPr>
        <p:spPr>
          <a:xfrm flipH="1">
            <a:off x="5034243" y="3575062"/>
            <a:ext cx="2682942" cy="34094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FBBA207-0935-FC52-98C9-B432AD4F148A}"/>
              </a:ext>
            </a:extLst>
          </p:cNvPr>
          <p:cNvCxnSpPr>
            <a:cxnSpLocks/>
          </p:cNvCxnSpPr>
          <p:nvPr/>
        </p:nvCxnSpPr>
        <p:spPr>
          <a:xfrm flipH="1">
            <a:off x="5625737" y="3592381"/>
            <a:ext cx="2525486" cy="3265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DB2ACD-0B2C-48EB-048F-9CAFEF5E8A86}"/>
              </a:ext>
            </a:extLst>
          </p:cNvPr>
          <p:cNvCxnSpPr/>
          <p:nvPr/>
        </p:nvCxnSpPr>
        <p:spPr>
          <a:xfrm flipH="1">
            <a:off x="6375714" y="3575062"/>
            <a:ext cx="2280606" cy="32829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60F3042-F160-9CC9-B19F-7944A6FAFED4}"/>
              </a:ext>
            </a:extLst>
          </p:cNvPr>
          <p:cNvCxnSpPr>
            <a:cxnSpLocks/>
          </p:cNvCxnSpPr>
          <p:nvPr/>
        </p:nvCxnSpPr>
        <p:spPr>
          <a:xfrm flipH="1">
            <a:off x="6802803" y="3631374"/>
            <a:ext cx="2282650" cy="33617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071F058-870D-0738-81C0-D7A81E410A74}"/>
              </a:ext>
            </a:extLst>
          </p:cNvPr>
          <p:cNvCxnSpPr/>
          <p:nvPr/>
        </p:nvCxnSpPr>
        <p:spPr>
          <a:xfrm flipH="1">
            <a:off x="7516017" y="3535678"/>
            <a:ext cx="2185332" cy="33223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26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387B-2BE7-3C83-2A63-2AC9FC893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355" y="653144"/>
            <a:ext cx="3561703" cy="4865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DB2BA9-4B4B-B008-A791-DA15C6741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175" y="1006699"/>
            <a:ext cx="1223883" cy="189967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226CE8-122F-5003-C67E-D203663D2675}"/>
              </a:ext>
            </a:extLst>
          </p:cNvPr>
          <p:cNvCxnSpPr>
            <a:cxnSpLocks/>
          </p:cNvCxnSpPr>
          <p:nvPr/>
        </p:nvCxnSpPr>
        <p:spPr>
          <a:xfrm flipH="1" flipV="1">
            <a:off x="7271658" y="1994634"/>
            <a:ext cx="859971" cy="639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53CFE21-9AC2-0CCF-65FA-C4F4C666994A}"/>
              </a:ext>
            </a:extLst>
          </p:cNvPr>
          <p:cNvSpPr txBox="1"/>
          <p:nvPr/>
        </p:nvSpPr>
        <p:spPr>
          <a:xfrm>
            <a:off x="195943" y="1121228"/>
            <a:ext cx="15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Falsifiabilitas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1E5B5-270F-44EF-70B7-FFC527D11D3B}"/>
              </a:ext>
            </a:extLst>
          </p:cNvPr>
          <p:cNvSpPr txBox="1"/>
          <p:nvPr/>
        </p:nvSpPr>
        <p:spPr>
          <a:xfrm>
            <a:off x="346289" y="1907898"/>
            <a:ext cx="4740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i="1" dirty="0" err="1"/>
              <a:t>Suatu</a:t>
            </a:r>
            <a:r>
              <a:rPr lang="en-ID" sz="1600" i="1" dirty="0"/>
              <a:t> </a:t>
            </a:r>
            <a:r>
              <a:rPr lang="en-ID" sz="1600" i="1" dirty="0" err="1"/>
              <a:t>teori</a:t>
            </a:r>
            <a:r>
              <a:rPr lang="en-ID" sz="1600" i="1" dirty="0"/>
              <a:t> </a:t>
            </a:r>
            <a:r>
              <a:rPr lang="en-ID" sz="1600" i="1" dirty="0" err="1"/>
              <a:t>atau</a:t>
            </a:r>
            <a:r>
              <a:rPr lang="en-ID" sz="1600" i="1" dirty="0"/>
              <a:t> </a:t>
            </a:r>
            <a:r>
              <a:rPr lang="en-ID" sz="1600" i="1" dirty="0" err="1"/>
              <a:t>pernyataan</a:t>
            </a:r>
            <a:r>
              <a:rPr lang="en-ID" sz="1600" i="1" dirty="0"/>
              <a:t> </a:t>
            </a:r>
            <a:r>
              <a:rPr lang="en-ID" sz="1600" i="1" dirty="0" err="1"/>
              <a:t>dalam</a:t>
            </a:r>
            <a:r>
              <a:rPr lang="en-ID" sz="1600" i="1" dirty="0"/>
              <a:t> </a:t>
            </a:r>
            <a:r>
              <a:rPr lang="en-ID" sz="1600" i="1" dirty="0" err="1"/>
              <a:t>karya</a:t>
            </a:r>
            <a:r>
              <a:rPr lang="en-ID" sz="1600" i="1" dirty="0"/>
              <a:t> </a:t>
            </a:r>
            <a:r>
              <a:rPr lang="en-ID" sz="1600" i="1" dirty="0" err="1"/>
              <a:t>ilmiah</a:t>
            </a:r>
            <a:r>
              <a:rPr lang="en-ID" sz="1600" i="1" dirty="0"/>
              <a:t> </a:t>
            </a:r>
            <a:r>
              <a:rPr lang="en-ID" sz="1600" i="1" dirty="0" err="1"/>
              <a:t>memungkinkan</a:t>
            </a:r>
            <a:r>
              <a:rPr lang="en-ID" sz="1600" i="1" dirty="0"/>
              <a:t> </a:t>
            </a:r>
            <a:r>
              <a:rPr lang="en-ID" sz="1600" i="1" dirty="0" err="1"/>
              <a:t>untuk</a:t>
            </a:r>
            <a:r>
              <a:rPr lang="en-ID" sz="1600" i="1" dirty="0"/>
              <a:t> </a:t>
            </a:r>
            <a:r>
              <a:rPr lang="en-ID" sz="1600" i="1" dirty="0" err="1"/>
              <a:t>diuji</a:t>
            </a:r>
            <a:r>
              <a:rPr lang="en-ID" sz="1600" i="1" dirty="0"/>
              <a:t> dan </a:t>
            </a:r>
            <a:r>
              <a:rPr lang="en-ID" sz="1600" i="1" dirty="0" err="1"/>
              <a:t>berpotensi</a:t>
            </a:r>
            <a:r>
              <a:rPr lang="en-ID" sz="1600" i="1" dirty="0"/>
              <a:t> </a:t>
            </a:r>
            <a:r>
              <a:rPr lang="en-ID" sz="1600" i="1" dirty="0" err="1"/>
              <a:t>dibuktikan</a:t>
            </a:r>
            <a:r>
              <a:rPr lang="en-ID" sz="1600" i="1" dirty="0"/>
              <a:t> </a:t>
            </a:r>
            <a:r>
              <a:rPr lang="en-ID" sz="1600" i="1" dirty="0" err="1"/>
              <a:t>keliru</a:t>
            </a:r>
            <a:r>
              <a:rPr lang="en-ID" sz="1600" i="1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C7CD7-AC8A-CE2B-2D16-F317183F9BF0}"/>
              </a:ext>
            </a:extLst>
          </p:cNvPr>
          <p:cNvSpPr txBox="1"/>
          <p:nvPr/>
        </p:nvSpPr>
        <p:spPr>
          <a:xfrm>
            <a:off x="385129" y="3244334"/>
            <a:ext cx="1176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Falsifikasi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E9F13-26D5-3B3D-32C4-083D200C9C59}"/>
              </a:ext>
            </a:extLst>
          </p:cNvPr>
          <p:cNvSpPr txBox="1"/>
          <p:nvPr/>
        </p:nvSpPr>
        <p:spPr>
          <a:xfrm>
            <a:off x="359227" y="4119105"/>
            <a:ext cx="5199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i="1" dirty="0"/>
              <a:t>Proses </a:t>
            </a:r>
            <a:r>
              <a:rPr lang="en-ID" sz="1600" i="1" dirty="0" err="1"/>
              <a:t>menguji</a:t>
            </a:r>
            <a:r>
              <a:rPr lang="en-ID" sz="1600" i="1" dirty="0"/>
              <a:t> </a:t>
            </a:r>
            <a:r>
              <a:rPr lang="en-ID" sz="1600" i="1" dirty="0" err="1"/>
              <a:t>suatu</a:t>
            </a:r>
            <a:r>
              <a:rPr lang="en-ID" sz="1600" i="1" dirty="0"/>
              <a:t> </a:t>
            </a:r>
            <a:r>
              <a:rPr lang="en-ID" sz="1600" i="1" dirty="0" err="1"/>
              <a:t>teori</a:t>
            </a:r>
            <a:r>
              <a:rPr lang="en-ID" sz="1600" i="1" dirty="0"/>
              <a:t> </a:t>
            </a:r>
            <a:r>
              <a:rPr lang="en-ID" sz="1600" i="1" dirty="0" err="1"/>
              <a:t>atau</a:t>
            </a:r>
            <a:r>
              <a:rPr lang="en-ID" sz="1600" i="1" dirty="0"/>
              <a:t> </a:t>
            </a:r>
            <a:r>
              <a:rPr lang="en-ID" sz="1600" i="1" dirty="0" err="1"/>
              <a:t>hipotesis</a:t>
            </a:r>
            <a:r>
              <a:rPr lang="en-ID" sz="1600" i="1" dirty="0"/>
              <a:t> </a:t>
            </a:r>
            <a:r>
              <a:rPr lang="en-ID" sz="1600" i="1" dirty="0" err="1"/>
              <a:t>untuk</a:t>
            </a:r>
            <a:r>
              <a:rPr lang="en-ID" sz="1600" i="1" dirty="0"/>
              <a:t> </a:t>
            </a:r>
            <a:r>
              <a:rPr lang="en-ID" sz="1600" i="1" dirty="0" err="1"/>
              <a:t>mencari</a:t>
            </a:r>
            <a:r>
              <a:rPr lang="en-ID" sz="1600" i="1" dirty="0"/>
              <a:t> </a:t>
            </a:r>
            <a:r>
              <a:rPr lang="en-ID" sz="1600" i="1" dirty="0" err="1"/>
              <a:t>tahu</a:t>
            </a:r>
            <a:r>
              <a:rPr lang="en-ID" sz="1600" i="1" dirty="0"/>
              <a:t> </a:t>
            </a:r>
            <a:r>
              <a:rPr lang="en-ID" sz="1600" i="1" dirty="0" err="1"/>
              <a:t>apakah</a:t>
            </a:r>
            <a:r>
              <a:rPr lang="en-ID" sz="1600" i="1" dirty="0"/>
              <a:t> </a:t>
            </a:r>
            <a:r>
              <a:rPr lang="en-ID" sz="1600" i="1" dirty="0" err="1"/>
              <a:t>teori</a:t>
            </a:r>
            <a:r>
              <a:rPr lang="en-ID" sz="1600" i="1" dirty="0"/>
              <a:t> </a:t>
            </a:r>
            <a:r>
              <a:rPr lang="en-ID" sz="1600" i="1" dirty="0" err="1"/>
              <a:t>tersebut</a:t>
            </a:r>
            <a:r>
              <a:rPr lang="en-ID" sz="1600" i="1" dirty="0"/>
              <a:t> </a:t>
            </a:r>
            <a:r>
              <a:rPr lang="en-ID" sz="1600" i="1" dirty="0" err="1"/>
              <a:t>bertentangan</a:t>
            </a:r>
            <a:r>
              <a:rPr lang="en-ID" sz="1600" i="1" dirty="0"/>
              <a:t> </a:t>
            </a:r>
            <a:r>
              <a:rPr lang="en-ID" sz="1600" i="1" dirty="0" err="1"/>
              <a:t>dengan</a:t>
            </a:r>
            <a:r>
              <a:rPr lang="en-ID" sz="1600" i="1" dirty="0"/>
              <a:t> </a:t>
            </a:r>
            <a:r>
              <a:rPr lang="en-ID" sz="1600" i="1" dirty="0" err="1"/>
              <a:t>bukti</a:t>
            </a:r>
            <a:r>
              <a:rPr lang="en-ID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2851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crush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53DFAC-28CB-ECCC-AD90-0FE2F39F1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2" y="257175"/>
            <a:ext cx="6848475" cy="31718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B0004B-2290-1F4D-50B2-6747E55F235A}"/>
              </a:ext>
            </a:extLst>
          </p:cNvPr>
          <p:cNvSpPr txBox="1"/>
          <p:nvPr/>
        </p:nvSpPr>
        <p:spPr>
          <a:xfrm>
            <a:off x="7152104" y="3712029"/>
            <a:ext cx="2612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Teori</a:t>
            </a:r>
            <a:r>
              <a:rPr lang="en-US" sz="1600" i="1" dirty="0"/>
              <a:t> </a:t>
            </a:r>
            <a:r>
              <a:rPr lang="en-US" sz="1600" i="1" dirty="0" err="1"/>
              <a:t>relativitas</a:t>
            </a:r>
            <a:r>
              <a:rPr lang="en-US" sz="1600" i="1" dirty="0"/>
              <a:t> </a:t>
            </a:r>
            <a:r>
              <a:rPr lang="en-US" sz="1600" i="1" dirty="0" err="1"/>
              <a:t>umum</a:t>
            </a:r>
            <a:r>
              <a:rPr lang="en-US" sz="1600" i="1" dirty="0"/>
              <a:t> 1915</a:t>
            </a:r>
            <a:endParaRPr lang="en-ID" sz="1600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E5F1E2-48F3-FAB0-F38C-3E17E4FAA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288" y="1635709"/>
            <a:ext cx="2451702" cy="137269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B0258A-909A-287C-A311-CAB7AFF527C6}"/>
              </a:ext>
            </a:extLst>
          </p:cNvPr>
          <p:cNvSpPr txBox="1"/>
          <p:nvPr/>
        </p:nvSpPr>
        <p:spPr>
          <a:xfrm>
            <a:off x="1129885" y="257175"/>
            <a:ext cx="398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CONTOH FALSIFIKASI KARYA ILMIAH</a:t>
            </a:r>
            <a:endParaRPr lang="en-ID" b="1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1E9D3-5FCF-C2B5-1B9B-D85F99F0B473}"/>
              </a:ext>
            </a:extLst>
          </p:cNvPr>
          <p:cNvSpPr txBox="1"/>
          <p:nvPr/>
        </p:nvSpPr>
        <p:spPr>
          <a:xfrm>
            <a:off x="2107437" y="3070163"/>
            <a:ext cx="14648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Albert Einstein</a:t>
            </a:r>
            <a:endParaRPr lang="en-ID" sz="16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D9E1E-42F7-F62C-B6B3-D5AF0AA5594B}"/>
              </a:ext>
            </a:extLst>
          </p:cNvPr>
          <p:cNvSpPr txBox="1"/>
          <p:nvPr/>
        </p:nvSpPr>
        <p:spPr>
          <a:xfrm>
            <a:off x="7054324" y="4358285"/>
            <a:ext cx="35157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i="1" dirty="0"/>
              <a:t>Albert Einstein </a:t>
            </a:r>
            <a:r>
              <a:rPr lang="en-ID" sz="1400" i="1" dirty="0" err="1"/>
              <a:t>mengemukakan</a:t>
            </a:r>
            <a:r>
              <a:rPr lang="en-ID" sz="1400" i="1" dirty="0"/>
              <a:t> </a:t>
            </a:r>
            <a:r>
              <a:rPr lang="en-ID" sz="1400" i="1" dirty="0" err="1"/>
              <a:t>melalui</a:t>
            </a:r>
            <a:r>
              <a:rPr lang="en-ID" sz="1400" i="1" dirty="0"/>
              <a:t> </a:t>
            </a:r>
            <a:r>
              <a:rPr lang="en-ID" sz="1400" i="1" dirty="0" err="1"/>
              <a:t>teori</a:t>
            </a:r>
            <a:r>
              <a:rPr lang="en-ID" sz="1400" i="1" dirty="0"/>
              <a:t> </a:t>
            </a:r>
            <a:r>
              <a:rPr lang="en-ID" sz="1400" i="1" dirty="0" err="1"/>
              <a:t>relativitas</a:t>
            </a:r>
            <a:r>
              <a:rPr lang="en-ID" sz="1400" i="1" dirty="0"/>
              <a:t> </a:t>
            </a:r>
            <a:r>
              <a:rPr lang="en-ID" sz="1400" i="1" dirty="0" err="1"/>
              <a:t>umum</a:t>
            </a:r>
            <a:r>
              <a:rPr lang="en-ID" sz="1400" i="1" dirty="0"/>
              <a:t> </a:t>
            </a:r>
            <a:r>
              <a:rPr lang="en-ID" sz="1400" i="1" dirty="0" err="1"/>
              <a:t>bahwa</a:t>
            </a:r>
            <a:r>
              <a:rPr lang="en-ID" sz="1400" i="1" dirty="0"/>
              <a:t> </a:t>
            </a:r>
            <a:r>
              <a:rPr lang="en-ID" sz="1400" i="1" dirty="0" err="1"/>
              <a:t>gravitasi</a:t>
            </a:r>
            <a:r>
              <a:rPr lang="en-ID" sz="1400" i="1" dirty="0"/>
              <a:t> </a:t>
            </a:r>
            <a:r>
              <a:rPr lang="en-ID" sz="1400" i="1" dirty="0" err="1"/>
              <a:t>berkaitan</a:t>
            </a:r>
            <a:r>
              <a:rPr lang="en-ID" sz="1400" i="1" dirty="0"/>
              <a:t> </a:t>
            </a:r>
            <a:r>
              <a:rPr lang="en-ID" sz="1400" i="1" dirty="0" err="1"/>
              <a:t>dengan</a:t>
            </a:r>
            <a:r>
              <a:rPr lang="en-ID" sz="1400" i="1" dirty="0"/>
              <a:t> </a:t>
            </a:r>
            <a:r>
              <a:rPr lang="en-ID" sz="1400" i="1" dirty="0" err="1"/>
              <a:t>kelengkungan</a:t>
            </a:r>
            <a:r>
              <a:rPr lang="en-ID" sz="1400" i="1" dirty="0"/>
              <a:t> </a:t>
            </a:r>
            <a:r>
              <a:rPr lang="en-ID" sz="1400" i="1" dirty="0" err="1"/>
              <a:t>ruang-waktu</a:t>
            </a:r>
            <a:r>
              <a:rPr lang="en-ID" sz="1400" i="1" dirty="0"/>
              <a:t>. </a:t>
            </a:r>
            <a:r>
              <a:rPr lang="en-ID" sz="1400" i="1" dirty="0" err="1"/>
              <a:t>Teori</a:t>
            </a:r>
            <a:r>
              <a:rPr lang="en-ID" sz="1400" i="1" dirty="0"/>
              <a:t> </a:t>
            </a:r>
            <a:r>
              <a:rPr lang="en-ID" sz="1400" i="1" dirty="0" err="1"/>
              <a:t>ini</a:t>
            </a:r>
            <a:r>
              <a:rPr lang="en-ID" sz="1400" i="1" dirty="0"/>
              <a:t> </a:t>
            </a:r>
            <a:r>
              <a:rPr lang="en-ID" sz="1400" i="1" dirty="0" err="1"/>
              <a:t>memprediksi</a:t>
            </a:r>
            <a:r>
              <a:rPr lang="en-ID" sz="1400" i="1" dirty="0"/>
              <a:t> </a:t>
            </a:r>
            <a:r>
              <a:rPr lang="en-ID" sz="1400" i="1" dirty="0" err="1"/>
              <a:t>bahwa</a:t>
            </a:r>
            <a:r>
              <a:rPr lang="en-ID" sz="1400" i="1" dirty="0"/>
              <a:t> </a:t>
            </a:r>
            <a:r>
              <a:rPr lang="en-ID" sz="1400" i="1" dirty="0" err="1"/>
              <a:t>cahaya</a:t>
            </a:r>
            <a:r>
              <a:rPr lang="en-ID" sz="1400" i="1" dirty="0"/>
              <a:t> </a:t>
            </a:r>
            <a:r>
              <a:rPr lang="en-ID" sz="1400" i="1" dirty="0" err="1"/>
              <a:t>bintang</a:t>
            </a:r>
            <a:r>
              <a:rPr lang="en-ID" sz="1400" i="1" dirty="0"/>
              <a:t> yang </a:t>
            </a:r>
            <a:r>
              <a:rPr lang="en-ID" sz="1400" i="1" dirty="0" err="1"/>
              <a:t>melintas</a:t>
            </a:r>
            <a:r>
              <a:rPr lang="en-ID" sz="1400" i="1" dirty="0"/>
              <a:t> </a:t>
            </a:r>
            <a:r>
              <a:rPr lang="en-ID" sz="1400" i="1" dirty="0" err="1"/>
              <a:t>dekat</a:t>
            </a:r>
            <a:r>
              <a:rPr lang="en-ID" sz="1400" i="1" dirty="0"/>
              <a:t> </a:t>
            </a:r>
            <a:r>
              <a:rPr lang="en-ID" sz="1400" i="1" dirty="0" err="1"/>
              <a:t>Matahari</a:t>
            </a:r>
            <a:r>
              <a:rPr lang="en-ID" sz="1400" i="1" dirty="0"/>
              <a:t> </a:t>
            </a:r>
            <a:r>
              <a:rPr lang="en-ID" sz="1400" i="1" dirty="0" err="1"/>
              <a:t>akan</a:t>
            </a:r>
            <a:r>
              <a:rPr lang="en-ID" sz="1400" i="1" dirty="0"/>
              <a:t> </a:t>
            </a:r>
            <a:r>
              <a:rPr lang="en-ID" sz="1400" i="1" dirty="0" err="1"/>
              <a:t>mengalami</a:t>
            </a:r>
            <a:r>
              <a:rPr lang="en-ID" sz="1400" i="1" dirty="0"/>
              <a:t> </a:t>
            </a:r>
            <a:r>
              <a:rPr lang="en-ID" sz="1400" i="1" dirty="0" err="1"/>
              <a:t>pembelokan</a:t>
            </a:r>
            <a:r>
              <a:rPr lang="en-ID" sz="14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90618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FF34AC-3EE0-2221-9E2B-D6E7DCB010AF}"/>
              </a:ext>
            </a:extLst>
          </p:cNvPr>
          <p:cNvSpPr txBox="1"/>
          <p:nvPr/>
        </p:nvSpPr>
        <p:spPr>
          <a:xfrm>
            <a:off x="424542" y="261258"/>
            <a:ext cx="263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HAKIKAT KARYA ILMIAH</a:t>
            </a:r>
            <a:endParaRPr lang="en-ID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F63FE-D670-DBB7-FB13-0E58E380EF6E}"/>
              </a:ext>
            </a:extLst>
          </p:cNvPr>
          <p:cNvSpPr txBox="1"/>
          <p:nvPr/>
        </p:nvSpPr>
        <p:spPr>
          <a:xfrm>
            <a:off x="283030" y="1132114"/>
            <a:ext cx="5987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 err="1"/>
              <a:t>Karya</a:t>
            </a:r>
            <a:r>
              <a:rPr lang="en-ID" sz="1600" dirty="0"/>
              <a:t> </a:t>
            </a:r>
            <a:r>
              <a:rPr lang="en-ID" sz="1600" dirty="0" err="1"/>
              <a:t>ilmiah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karya</a:t>
            </a:r>
            <a:r>
              <a:rPr lang="en-ID" sz="1600" dirty="0"/>
              <a:t> yang </a:t>
            </a:r>
            <a:r>
              <a:rPr lang="en-ID" sz="1600" dirty="0" err="1"/>
              <a:t>dihasilkan</a:t>
            </a:r>
            <a:r>
              <a:rPr lang="en-ID" sz="1600" dirty="0"/>
              <a:t> </a:t>
            </a:r>
            <a:r>
              <a:rPr lang="en-ID" sz="1600" dirty="0" err="1"/>
              <a:t>melalui</a:t>
            </a:r>
            <a:r>
              <a:rPr lang="en-ID" sz="1600" dirty="0"/>
              <a:t> proses </a:t>
            </a:r>
            <a:r>
              <a:rPr lang="en-ID" sz="1600" dirty="0" err="1"/>
              <a:t>berpikir</a:t>
            </a:r>
            <a:r>
              <a:rPr lang="en-ID" sz="1600" dirty="0"/>
              <a:t>, </a:t>
            </a:r>
            <a:r>
              <a:rPr lang="en-ID" sz="1600" dirty="0" err="1"/>
              <a:t>pengkajian</a:t>
            </a:r>
            <a:r>
              <a:rPr lang="en-ID" sz="1600" dirty="0"/>
              <a:t>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penelitian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sistematis</a:t>
            </a:r>
            <a:r>
              <a:rPr lang="en-ID" sz="1600" dirty="0"/>
              <a:t> dan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dipertanggungjawabkan</a:t>
            </a:r>
            <a:r>
              <a:rPr lang="en-ID" sz="1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31BA0-3C8D-9347-7686-184DF25207B2}"/>
              </a:ext>
            </a:extLst>
          </p:cNvPr>
          <p:cNvSpPr txBox="1"/>
          <p:nvPr/>
        </p:nvSpPr>
        <p:spPr>
          <a:xfrm>
            <a:off x="283030" y="2002970"/>
            <a:ext cx="7282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perspektif</a:t>
            </a:r>
            <a:r>
              <a:rPr lang="en-ID" sz="1600" dirty="0"/>
              <a:t> </a:t>
            </a:r>
            <a:r>
              <a:rPr lang="en-ID" sz="1600" dirty="0" err="1"/>
              <a:t>pemikiran</a:t>
            </a:r>
            <a:r>
              <a:rPr lang="en-ID" sz="1600" dirty="0"/>
              <a:t> Popper, salah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karakteristik</a:t>
            </a:r>
            <a:r>
              <a:rPr lang="en-ID" sz="1600" dirty="0"/>
              <a:t> </a:t>
            </a:r>
            <a:r>
              <a:rPr lang="en-ID" sz="1600" dirty="0" err="1"/>
              <a:t>penting</a:t>
            </a:r>
            <a:r>
              <a:rPr lang="en-ID" sz="1600" dirty="0"/>
              <a:t> </a:t>
            </a:r>
            <a:r>
              <a:rPr lang="en-ID" sz="1600" dirty="0" err="1"/>
              <a:t>kegiatan</a:t>
            </a:r>
            <a:r>
              <a:rPr lang="en-ID" sz="1600" dirty="0"/>
              <a:t> </a:t>
            </a:r>
            <a:r>
              <a:rPr lang="en-ID" sz="1600" dirty="0" err="1"/>
              <a:t>ilmiah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keterbukaan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dirty="0" err="1"/>
              <a:t>pengujian</a:t>
            </a:r>
            <a:r>
              <a:rPr lang="en-ID" sz="1600" dirty="0"/>
              <a:t> dan </a:t>
            </a:r>
            <a:r>
              <a:rPr lang="en-ID" sz="1600" dirty="0" err="1"/>
              <a:t>kemungkinan</a:t>
            </a:r>
            <a:r>
              <a:rPr lang="en-ID" sz="1600" dirty="0"/>
              <a:t> </a:t>
            </a:r>
            <a:r>
              <a:rPr lang="en-ID" sz="1600" dirty="0" err="1"/>
              <a:t>koreksi</a:t>
            </a:r>
            <a:r>
              <a:rPr lang="en-ID" sz="16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A631F-59D7-EA73-460A-22D866E71080}"/>
              </a:ext>
            </a:extLst>
          </p:cNvPr>
          <p:cNvSpPr txBox="1"/>
          <p:nvPr/>
        </p:nvSpPr>
        <p:spPr>
          <a:xfrm>
            <a:off x="283030" y="3004457"/>
            <a:ext cx="49401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karya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Rasional</a:t>
            </a:r>
            <a:r>
              <a:rPr lang="en-ID" dirty="0"/>
              <a:t> dan </a:t>
            </a:r>
            <a:r>
              <a:rPr lang="en-ID" dirty="0" err="1"/>
              <a:t>logis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Sistematis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600" dirty="0" err="1"/>
              <a:t>Berdasarkan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yang </a:t>
            </a:r>
            <a:r>
              <a:rPr lang="en-ID" dirty="0" err="1"/>
              <a:t>relevan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yang </a:t>
            </a:r>
            <a:r>
              <a:rPr lang="en-ID" dirty="0" err="1"/>
              <a:t>sesuai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Terbuka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kritik</a:t>
            </a:r>
            <a:r>
              <a:rPr lang="en-ID" dirty="0"/>
              <a:t> dan </a:t>
            </a:r>
            <a:r>
              <a:rPr lang="en-ID" dirty="0" err="1"/>
              <a:t>koreksi</a:t>
            </a:r>
            <a:r>
              <a:rPr lang="en-ID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EEED9-FF2B-6EE1-D693-838A2E193A39}"/>
              </a:ext>
            </a:extLst>
          </p:cNvPr>
          <p:cNvSpPr txBox="1"/>
          <p:nvPr/>
        </p:nvSpPr>
        <p:spPr>
          <a:xfrm>
            <a:off x="6901543" y="4430486"/>
            <a:ext cx="4195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600" dirty="0"/>
              <a:t>Sarana </a:t>
            </a:r>
            <a:r>
              <a:rPr lang="en-ID" sz="1600" dirty="0" err="1"/>
              <a:t>pengembangan</a:t>
            </a:r>
            <a:r>
              <a:rPr lang="en-ID" sz="1600" dirty="0"/>
              <a:t> </a:t>
            </a:r>
            <a:r>
              <a:rPr lang="en-ID" sz="1600" dirty="0" err="1"/>
              <a:t>ilmu</a:t>
            </a:r>
            <a:r>
              <a:rPr lang="en-ID" sz="1600" dirty="0"/>
              <a:t> </a:t>
            </a:r>
            <a:r>
              <a:rPr lang="en-ID" sz="1600" dirty="0" err="1"/>
              <a:t>pengetahuan</a:t>
            </a:r>
            <a:r>
              <a:rPr lang="en-ID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600" dirty="0" err="1"/>
              <a:t>Membantu</a:t>
            </a:r>
            <a:r>
              <a:rPr lang="en-ID" sz="1600" dirty="0"/>
              <a:t> </a:t>
            </a:r>
            <a:r>
              <a:rPr lang="en-ID" sz="1600" dirty="0" err="1"/>
              <a:t>memecahkan</a:t>
            </a:r>
            <a:r>
              <a:rPr lang="en-ID" sz="1600" dirty="0"/>
              <a:t> </a:t>
            </a:r>
            <a:r>
              <a:rPr lang="en-ID" sz="1600" dirty="0" err="1"/>
              <a:t>permasalahan</a:t>
            </a:r>
            <a:endParaRPr lang="en-ID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sz="1600" dirty="0" err="1"/>
              <a:t>Melatih</a:t>
            </a:r>
            <a:r>
              <a:rPr lang="en-ID" sz="1600" dirty="0"/>
              <a:t> </a:t>
            </a:r>
            <a:r>
              <a:rPr lang="en-ID" sz="1600" dirty="0" err="1"/>
              <a:t>kemampuan</a:t>
            </a:r>
            <a:r>
              <a:rPr lang="en-ID" sz="1600" dirty="0"/>
              <a:t> </a:t>
            </a:r>
            <a:r>
              <a:rPr lang="en-ID" sz="1600" dirty="0" err="1"/>
              <a:t>berpikir</a:t>
            </a:r>
            <a:r>
              <a:rPr lang="en-ID" sz="1600" dirty="0"/>
              <a:t> </a:t>
            </a:r>
            <a:r>
              <a:rPr lang="en-ID" sz="1600" dirty="0" err="1"/>
              <a:t>kritis</a:t>
            </a:r>
            <a:endParaRPr lang="en-ID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F3DE0F-A108-6F13-3F20-9206ECC82575}"/>
              </a:ext>
            </a:extLst>
          </p:cNvPr>
          <p:cNvSpPr txBox="1"/>
          <p:nvPr/>
        </p:nvSpPr>
        <p:spPr>
          <a:xfrm>
            <a:off x="7097486" y="3951514"/>
            <a:ext cx="1392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FUNGSINYA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85980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213A32-210F-BD8B-A8D8-2376EF1956DC}"/>
              </a:ext>
            </a:extLst>
          </p:cNvPr>
          <p:cNvSpPr txBox="1"/>
          <p:nvPr/>
        </p:nvSpPr>
        <p:spPr>
          <a:xfrm>
            <a:off x="315686" y="391886"/>
            <a:ext cx="3387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DengXian" panose="02010600030101010101" pitchFamily="2" charset="-122"/>
              </a:rPr>
              <a:t>J</a:t>
            </a:r>
            <a:r>
              <a:rPr lang="en-ID" b="1" dirty="0">
                <a:latin typeface="Times New Roman" panose="02020603050405020304" pitchFamily="18" charset="0"/>
                <a:ea typeface="DengXian" panose="02010600030101010101" pitchFamily="2" charset="-122"/>
              </a:rPr>
              <a:t>ENIS-JENIS KARYA ILMIAH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C72828-E168-2748-E755-2323C6E3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36" y="783936"/>
            <a:ext cx="2172379" cy="199861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F0F85A-1681-E849-3BDE-0AA3B5A32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459" y="910196"/>
            <a:ext cx="2924856" cy="2027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C5C30F-6C5D-514F-FD07-E521A7AD6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971" y="849560"/>
            <a:ext cx="2659601" cy="21022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DA6963-AD8E-6EA9-4F59-26026A663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7" y="3561427"/>
            <a:ext cx="3219111" cy="222977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042CC1-0053-D6EC-6DEB-B705094EAF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966" y="3763501"/>
            <a:ext cx="2323841" cy="20277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A375B8-142E-AF40-E3F1-F3732B7451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115" y="3763501"/>
            <a:ext cx="2013315" cy="20277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FECB784-4001-4766-F241-4424FACDC2C9}"/>
              </a:ext>
            </a:extLst>
          </p:cNvPr>
          <p:cNvSpPr txBox="1"/>
          <p:nvPr/>
        </p:nvSpPr>
        <p:spPr>
          <a:xfrm>
            <a:off x="4867614" y="2871265"/>
            <a:ext cx="1186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MAKALAH</a:t>
            </a:r>
            <a:endParaRPr lang="en-ID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BA5D01-810B-7262-F991-D91F586780EA}"/>
              </a:ext>
            </a:extLst>
          </p:cNvPr>
          <p:cNvSpPr txBox="1"/>
          <p:nvPr/>
        </p:nvSpPr>
        <p:spPr>
          <a:xfrm>
            <a:off x="1043462" y="2782551"/>
            <a:ext cx="1588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ARTIKEL ILMIAH</a:t>
            </a:r>
            <a:endParaRPr lang="en-ID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42EDA6-8AE0-52EB-2C4A-4AFA0C9AEEEA}"/>
              </a:ext>
            </a:extLst>
          </p:cNvPr>
          <p:cNvSpPr txBox="1"/>
          <p:nvPr/>
        </p:nvSpPr>
        <p:spPr>
          <a:xfrm>
            <a:off x="8567057" y="2909833"/>
            <a:ext cx="679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TESIS</a:t>
            </a:r>
            <a:endParaRPr lang="en-ID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3BCC12-AEF1-BB96-34EC-08B4E7A4A234}"/>
              </a:ext>
            </a:extLst>
          </p:cNvPr>
          <p:cNvSpPr txBox="1"/>
          <p:nvPr/>
        </p:nvSpPr>
        <p:spPr>
          <a:xfrm>
            <a:off x="1664723" y="5752037"/>
            <a:ext cx="96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PAPER</a:t>
            </a:r>
            <a:endParaRPr lang="en-ID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5536B3-E862-76C8-7C6D-9706F7E8D385}"/>
              </a:ext>
            </a:extLst>
          </p:cNvPr>
          <p:cNvSpPr txBox="1"/>
          <p:nvPr/>
        </p:nvSpPr>
        <p:spPr>
          <a:xfrm>
            <a:off x="4883834" y="5791201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SKRIPSI</a:t>
            </a:r>
            <a:endParaRPr lang="en-ID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7C711-33E4-7256-B3D8-3E9C9705DC5B}"/>
              </a:ext>
            </a:extLst>
          </p:cNvPr>
          <p:cNvSpPr txBox="1"/>
          <p:nvPr/>
        </p:nvSpPr>
        <p:spPr>
          <a:xfrm>
            <a:off x="8354210" y="5725577"/>
            <a:ext cx="1105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DISERTASI</a:t>
            </a:r>
            <a:endParaRPr lang="en-ID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AE6654-95DD-38F6-0BEB-631C0BB739CE}"/>
              </a:ext>
            </a:extLst>
          </p:cNvPr>
          <p:cNvSpPr txBox="1"/>
          <p:nvPr/>
        </p:nvSpPr>
        <p:spPr>
          <a:xfrm>
            <a:off x="10936705" y="4415589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DSB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2401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0FA41F-C9CC-482C-37EC-E08B916B4EAD}"/>
              </a:ext>
            </a:extLst>
          </p:cNvPr>
          <p:cNvSpPr txBox="1"/>
          <p:nvPr/>
        </p:nvSpPr>
        <p:spPr>
          <a:xfrm flipH="1">
            <a:off x="276723" y="264696"/>
            <a:ext cx="341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SISTEMATIKA KARYA ILMIAH</a:t>
            </a:r>
            <a:endParaRPr lang="en-ID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C738A-484C-2E35-2A90-8DA18B0FD22A}"/>
              </a:ext>
            </a:extLst>
          </p:cNvPr>
          <p:cNvSpPr txBox="1"/>
          <p:nvPr/>
        </p:nvSpPr>
        <p:spPr>
          <a:xfrm>
            <a:off x="276723" y="926431"/>
            <a:ext cx="7459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Sistematika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penulisan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karya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tulis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ilmiah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merupakan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susunan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bagian-bagian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tulisan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diatur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secara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terstruktur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logis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,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saling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berkaitan</a:t>
            </a:r>
            <a:r>
              <a:rPr lang="en-ID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. 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B98BC-C5B5-F049-1904-2153410FBF58}"/>
              </a:ext>
            </a:extLst>
          </p:cNvPr>
          <p:cNvSpPr txBox="1"/>
          <p:nvPr/>
        </p:nvSpPr>
        <p:spPr>
          <a:xfrm>
            <a:off x="349633" y="1703677"/>
            <a:ext cx="163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A. Bagian </a:t>
            </a:r>
            <a:r>
              <a:rPr lang="en-ID" dirty="0" err="1"/>
              <a:t>awal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8AA57-5256-C380-5318-E74FA523FC73}"/>
              </a:ext>
            </a:extLst>
          </p:cNvPr>
          <p:cNvSpPr txBox="1"/>
          <p:nvPr/>
        </p:nvSpPr>
        <p:spPr>
          <a:xfrm>
            <a:off x="276723" y="2351782"/>
            <a:ext cx="4944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/>
              <a:t>Bagian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bagian</a:t>
            </a:r>
            <a:r>
              <a:rPr lang="en-ID" sz="1600" dirty="0"/>
              <a:t> yang </a:t>
            </a:r>
            <a:r>
              <a:rPr lang="en-ID" sz="1600" dirty="0" err="1"/>
              <a:t>memperkenalkan</a:t>
            </a:r>
            <a:r>
              <a:rPr lang="en-ID" sz="1600" dirty="0"/>
              <a:t> </a:t>
            </a:r>
            <a:r>
              <a:rPr lang="en-ID" sz="1600" dirty="0" err="1"/>
              <a:t>identitas</a:t>
            </a:r>
            <a:r>
              <a:rPr lang="en-ID" sz="1600" dirty="0"/>
              <a:t> dan </a:t>
            </a:r>
            <a:r>
              <a:rPr lang="en-ID" sz="1600" dirty="0" err="1"/>
              <a:t>memberikan</a:t>
            </a:r>
            <a:r>
              <a:rPr lang="en-ID" sz="1600" dirty="0"/>
              <a:t> </a:t>
            </a:r>
            <a:r>
              <a:rPr lang="en-ID" sz="1600" dirty="0" err="1"/>
              <a:t>gambaran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mengenai</a:t>
            </a:r>
            <a:r>
              <a:rPr lang="en-ID" sz="1600" dirty="0"/>
              <a:t> </a:t>
            </a:r>
            <a:r>
              <a:rPr lang="en-ID" sz="1600" dirty="0" err="1"/>
              <a:t>karya</a:t>
            </a:r>
            <a:r>
              <a:rPr lang="en-ID" sz="1600" dirty="0"/>
              <a:t> </a:t>
            </a:r>
            <a:r>
              <a:rPr lang="en-ID" sz="1600" dirty="0" err="1"/>
              <a:t>ilmiah</a:t>
            </a:r>
            <a:r>
              <a:rPr lang="en-ID" sz="1600" dirty="0"/>
              <a:t>. </a:t>
            </a:r>
            <a:r>
              <a:rPr lang="en-ID" sz="1600" dirty="0" err="1"/>
              <a:t>meliputi</a:t>
            </a:r>
            <a:r>
              <a:rPr lang="en-ID" sz="1600" dirty="0"/>
              <a:t>:</a:t>
            </a:r>
          </a:p>
          <a:p>
            <a:endParaRPr lang="en-ID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2AE8FD-CE12-4DB8-FDD6-EAF836DE15C5}"/>
              </a:ext>
            </a:extLst>
          </p:cNvPr>
          <p:cNvSpPr txBox="1"/>
          <p:nvPr/>
        </p:nvSpPr>
        <p:spPr>
          <a:xfrm>
            <a:off x="5432312" y="1888343"/>
            <a:ext cx="4847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B. Bagian </a:t>
            </a:r>
            <a:r>
              <a:rPr lang="en-ID" sz="1600" b="1" dirty="0" err="1"/>
              <a:t>isi</a:t>
            </a:r>
            <a:endParaRPr lang="en-ID" sz="1600" b="1" dirty="0"/>
          </a:p>
          <a:p>
            <a:endParaRPr lang="en-ID" sz="1600" b="1" dirty="0"/>
          </a:p>
          <a:p>
            <a:r>
              <a:rPr lang="en-ID" sz="1600" dirty="0"/>
              <a:t>Bagian </a:t>
            </a:r>
            <a:r>
              <a:rPr lang="en-ID" sz="1600" dirty="0" err="1"/>
              <a:t>isi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bagian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di </a:t>
            </a:r>
            <a:r>
              <a:rPr lang="en-ID" sz="1600" dirty="0" err="1"/>
              <a:t>sinilah</a:t>
            </a:r>
            <a:r>
              <a:rPr lang="en-ID" sz="1600" dirty="0"/>
              <a:t> </a:t>
            </a:r>
            <a:r>
              <a:rPr lang="en-ID" sz="1600" dirty="0" err="1"/>
              <a:t>penulis</a:t>
            </a:r>
            <a:r>
              <a:rPr lang="en-ID" sz="1600" dirty="0"/>
              <a:t> </a:t>
            </a:r>
            <a:r>
              <a:rPr lang="en-ID" sz="1600" dirty="0" err="1"/>
              <a:t>mengembangkan</a:t>
            </a:r>
            <a:r>
              <a:rPr lang="en-ID" sz="1600" dirty="0"/>
              <a:t> </a:t>
            </a:r>
            <a:r>
              <a:rPr lang="en-ID" sz="1600" dirty="0" err="1"/>
              <a:t>pemikiran</a:t>
            </a:r>
            <a:r>
              <a:rPr lang="en-ID" sz="1600" dirty="0"/>
              <a:t>, </a:t>
            </a:r>
            <a:r>
              <a:rPr lang="en-ID" sz="1600" dirty="0" err="1"/>
              <a:t>menyajikan</a:t>
            </a:r>
            <a:r>
              <a:rPr lang="en-ID" sz="1600" dirty="0"/>
              <a:t> </a:t>
            </a:r>
            <a:r>
              <a:rPr lang="en-ID" sz="1600" dirty="0" err="1"/>
              <a:t>bukti</a:t>
            </a:r>
            <a:r>
              <a:rPr lang="en-ID" sz="1600" dirty="0"/>
              <a:t>, dan </a:t>
            </a:r>
            <a:r>
              <a:rPr lang="en-ID" sz="1600" dirty="0" err="1"/>
              <a:t>menjawab</a:t>
            </a:r>
            <a:r>
              <a:rPr lang="en-ID" sz="1600" dirty="0"/>
              <a:t> </a:t>
            </a:r>
            <a:r>
              <a:rPr lang="en-ID" sz="1600" dirty="0" err="1"/>
              <a:t>permasalahan</a:t>
            </a:r>
            <a:r>
              <a:rPr lang="en-ID" sz="1600" dirty="0"/>
              <a:t>.</a:t>
            </a:r>
          </a:p>
          <a:p>
            <a:endParaRPr lang="en-ID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B33B26-42B6-FAC9-08E9-1F9E6EFABC7D}"/>
              </a:ext>
            </a:extLst>
          </p:cNvPr>
          <p:cNvCxnSpPr/>
          <p:nvPr/>
        </p:nvCxnSpPr>
        <p:spPr>
          <a:xfrm flipH="1">
            <a:off x="1191126" y="3429000"/>
            <a:ext cx="721173" cy="1684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FF8575-B27A-F9A5-819A-F66CF1A2B1C3}"/>
              </a:ext>
            </a:extLst>
          </p:cNvPr>
          <p:cNvCxnSpPr>
            <a:cxnSpLocks/>
          </p:cNvCxnSpPr>
          <p:nvPr/>
        </p:nvCxnSpPr>
        <p:spPr>
          <a:xfrm>
            <a:off x="1912299" y="3429000"/>
            <a:ext cx="679425" cy="2225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617123-62F4-4BF2-0AB7-53428A435D9E}"/>
              </a:ext>
            </a:extLst>
          </p:cNvPr>
          <p:cNvCxnSpPr>
            <a:cxnSpLocks/>
          </p:cNvCxnSpPr>
          <p:nvPr/>
        </p:nvCxnSpPr>
        <p:spPr>
          <a:xfrm>
            <a:off x="1912299" y="3469902"/>
            <a:ext cx="1781396" cy="1072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AC4A3C-5373-972F-E1D0-D69A388EE01A}"/>
              </a:ext>
            </a:extLst>
          </p:cNvPr>
          <p:cNvCxnSpPr/>
          <p:nvPr/>
        </p:nvCxnSpPr>
        <p:spPr>
          <a:xfrm flipH="1">
            <a:off x="6208295" y="3429000"/>
            <a:ext cx="762005" cy="1419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4D9789-CAE1-DF70-519B-044917CD1A76}"/>
              </a:ext>
            </a:extLst>
          </p:cNvPr>
          <p:cNvCxnSpPr>
            <a:cxnSpLocks/>
          </p:cNvCxnSpPr>
          <p:nvPr/>
        </p:nvCxnSpPr>
        <p:spPr>
          <a:xfrm>
            <a:off x="6970300" y="3429000"/>
            <a:ext cx="1133334" cy="10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E97E1B-D370-71BD-D79C-599A98E2D7B9}"/>
              </a:ext>
            </a:extLst>
          </p:cNvPr>
          <p:cNvCxnSpPr>
            <a:cxnSpLocks/>
          </p:cNvCxnSpPr>
          <p:nvPr/>
        </p:nvCxnSpPr>
        <p:spPr>
          <a:xfrm>
            <a:off x="6970300" y="3429000"/>
            <a:ext cx="2173700" cy="40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523082-2A51-A99B-85B1-868350B16581}"/>
              </a:ext>
            </a:extLst>
          </p:cNvPr>
          <p:cNvSpPr txBox="1"/>
          <p:nvPr/>
        </p:nvSpPr>
        <p:spPr>
          <a:xfrm>
            <a:off x="290963" y="5154323"/>
            <a:ext cx="1694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Kata </a:t>
            </a:r>
            <a:r>
              <a:rPr lang="en-ID" dirty="0" err="1"/>
              <a:t>pengantar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23972-D5FA-BE6C-5D81-26C00CC12D54}"/>
              </a:ext>
            </a:extLst>
          </p:cNvPr>
          <p:cNvSpPr txBox="1"/>
          <p:nvPr/>
        </p:nvSpPr>
        <p:spPr>
          <a:xfrm>
            <a:off x="2252011" y="5746903"/>
            <a:ext cx="107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/>
              <a:t>Daftar </a:t>
            </a:r>
            <a:r>
              <a:rPr lang="en-ID" dirty="0" err="1"/>
              <a:t>isi</a:t>
            </a:r>
            <a:endParaRPr lang="en-ID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D3CF37-3BB7-C810-A20B-9691A51F0C30}"/>
              </a:ext>
            </a:extLst>
          </p:cNvPr>
          <p:cNvSpPr txBox="1"/>
          <p:nvPr/>
        </p:nvSpPr>
        <p:spPr>
          <a:xfrm>
            <a:off x="3526984" y="4565414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Abstrak</a:t>
            </a:r>
            <a:endParaRPr lang="en-ID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EA9604-AA43-857D-7EF5-9577CE45E1EB}"/>
              </a:ext>
            </a:extLst>
          </p:cNvPr>
          <p:cNvSpPr txBox="1"/>
          <p:nvPr/>
        </p:nvSpPr>
        <p:spPr>
          <a:xfrm>
            <a:off x="4922923" y="4861935"/>
            <a:ext cx="33327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BAB I — </a:t>
            </a:r>
            <a:r>
              <a:rPr lang="en-ID" sz="1600" b="1" dirty="0" err="1"/>
              <a:t>Pendahuluan</a:t>
            </a:r>
            <a:endParaRPr lang="en-ID" sz="1600" dirty="0"/>
          </a:p>
          <a:p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latar</a:t>
            </a:r>
            <a:r>
              <a:rPr lang="en-ID" sz="1600" dirty="0"/>
              <a:t> </a:t>
            </a:r>
            <a:r>
              <a:rPr lang="en-ID" sz="1600" dirty="0" err="1"/>
              <a:t>belakang</a:t>
            </a:r>
            <a:r>
              <a:rPr lang="en-ID" sz="1600" dirty="0"/>
              <a:t> </a:t>
            </a:r>
            <a:r>
              <a:rPr lang="en-ID" sz="1600" dirty="0" err="1"/>
              <a:t>masalah</a:t>
            </a:r>
            <a:r>
              <a:rPr lang="en-ID" sz="1600" dirty="0"/>
              <a:t>, </a:t>
            </a:r>
            <a:r>
              <a:rPr lang="en-ID" sz="1600" dirty="0" err="1"/>
              <a:t>rumusan</a:t>
            </a:r>
            <a:r>
              <a:rPr lang="en-ID" sz="1600" dirty="0"/>
              <a:t> </a:t>
            </a:r>
            <a:r>
              <a:rPr lang="en-ID" sz="1600" dirty="0" err="1"/>
              <a:t>masalah</a:t>
            </a:r>
            <a:r>
              <a:rPr lang="en-ID" sz="1600" dirty="0"/>
              <a:t>, dan </a:t>
            </a:r>
            <a:r>
              <a:rPr lang="en-ID" sz="1600" dirty="0" err="1"/>
              <a:t>tujuan</a:t>
            </a:r>
            <a:r>
              <a:rPr lang="en-ID" sz="1600" dirty="0"/>
              <a:t> </a:t>
            </a:r>
            <a:r>
              <a:rPr lang="en-ID" sz="1600" dirty="0" err="1"/>
              <a:t>penulisan</a:t>
            </a:r>
            <a:r>
              <a:rPr lang="en-ID" sz="1600" dirty="0"/>
              <a:t>.</a:t>
            </a:r>
          </a:p>
          <a:p>
            <a:endParaRPr lang="en-ID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175BB0-8B64-4051-A95E-39FC865B95B8}"/>
              </a:ext>
            </a:extLst>
          </p:cNvPr>
          <p:cNvSpPr txBox="1"/>
          <p:nvPr/>
        </p:nvSpPr>
        <p:spPr>
          <a:xfrm>
            <a:off x="9288378" y="3046053"/>
            <a:ext cx="20814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BAB III — </a:t>
            </a:r>
            <a:r>
              <a:rPr lang="en-ID" sz="1600" b="1" dirty="0" err="1"/>
              <a:t>Penutup</a:t>
            </a:r>
            <a:endParaRPr lang="en-ID" sz="1600" dirty="0"/>
          </a:p>
          <a:p>
            <a:r>
              <a:rPr lang="en-ID" sz="1600" dirty="0" err="1"/>
              <a:t>Biasanya</a:t>
            </a:r>
            <a:r>
              <a:rPr lang="en-ID" sz="1600" dirty="0"/>
              <a:t> </a:t>
            </a: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kesimpulan</a:t>
            </a:r>
            <a:r>
              <a:rPr lang="en-ID" sz="1600" dirty="0"/>
              <a:t> dan saran.</a:t>
            </a:r>
          </a:p>
          <a:p>
            <a:endParaRPr lang="en-ID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9A47BE-27B0-DA5E-662D-8AF433A96B8D}"/>
              </a:ext>
            </a:extLst>
          </p:cNvPr>
          <p:cNvSpPr txBox="1"/>
          <p:nvPr/>
        </p:nvSpPr>
        <p:spPr>
          <a:xfrm>
            <a:off x="7746283" y="4565414"/>
            <a:ext cx="37974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dirty="0"/>
              <a:t>BAB II — </a:t>
            </a:r>
            <a:r>
              <a:rPr lang="en-ID" sz="1600" b="1" dirty="0" err="1"/>
              <a:t>Pembahasan</a:t>
            </a:r>
            <a:r>
              <a:rPr lang="en-ID" sz="1600" b="1" dirty="0"/>
              <a:t>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landasan</a:t>
            </a:r>
            <a:r>
              <a:rPr lang="en-ID" sz="1600" b="1" dirty="0"/>
              <a:t> </a:t>
            </a:r>
            <a:r>
              <a:rPr lang="en-ID" sz="1600" b="1" dirty="0" err="1"/>
              <a:t>teori</a:t>
            </a:r>
            <a:endParaRPr lang="en-ID" sz="1600" dirty="0"/>
          </a:p>
          <a:p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teori</a:t>
            </a:r>
            <a:r>
              <a:rPr lang="en-ID" sz="1600" dirty="0"/>
              <a:t>, </a:t>
            </a:r>
            <a:r>
              <a:rPr lang="en-ID" sz="1600" dirty="0" err="1"/>
              <a:t>konsep</a:t>
            </a:r>
            <a:r>
              <a:rPr lang="en-ID" sz="1600" dirty="0"/>
              <a:t>, dan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penelitian</a:t>
            </a:r>
            <a:r>
              <a:rPr lang="en-ID" sz="1600" dirty="0"/>
              <a:t> </a:t>
            </a:r>
            <a:r>
              <a:rPr lang="en-ID" sz="1600" dirty="0" err="1"/>
              <a:t>terdahulu</a:t>
            </a:r>
            <a:r>
              <a:rPr lang="en-ID" sz="1600" dirty="0"/>
              <a:t> yang </a:t>
            </a:r>
            <a:r>
              <a:rPr lang="en-ID" sz="1600" dirty="0" err="1"/>
              <a:t>relevan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permasalahan</a:t>
            </a:r>
            <a:r>
              <a:rPr lang="en-ID" sz="1600" dirty="0"/>
              <a:t>.</a:t>
            </a:r>
          </a:p>
          <a:p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92350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673A3-E8A4-FDFB-FC11-BAB04F04873A}"/>
              </a:ext>
            </a:extLst>
          </p:cNvPr>
          <p:cNvSpPr txBox="1"/>
          <p:nvPr/>
        </p:nvSpPr>
        <p:spPr>
          <a:xfrm>
            <a:off x="541421" y="445168"/>
            <a:ext cx="89543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b="1" dirty="0"/>
              <a:t>C. Bagian </a:t>
            </a:r>
            <a:r>
              <a:rPr lang="en-ID" b="1" dirty="0" err="1"/>
              <a:t>akhir</a:t>
            </a:r>
            <a:endParaRPr lang="en-ID" b="1" dirty="0"/>
          </a:p>
          <a:p>
            <a:r>
              <a:rPr lang="en-ID" dirty="0"/>
              <a:t>Bagian </a:t>
            </a:r>
            <a:r>
              <a:rPr lang="en-ID" dirty="0" err="1"/>
              <a:t>akhir</a:t>
            </a:r>
            <a:r>
              <a:rPr lang="en-ID" dirty="0"/>
              <a:t> </a:t>
            </a:r>
            <a:r>
              <a:rPr lang="en-ID" dirty="0" err="1"/>
              <a:t>memuat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dan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pendukung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karya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.</a:t>
            </a:r>
          </a:p>
          <a:p>
            <a:r>
              <a:rPr lang="en-ID" dirty="0" err="1"/>
              <a:t>Contohnya</a:t>
            </a:r>
            <a:r>
              <a:rPr lang="en-ID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Daftar </a:t>
            </a:r>
            <a:r>
              <a:rPr lang="en-ID" dirty="0" err="1"/>
              <a:t>pustaka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1756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airplane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F28B64-A68D-C9D0-FFA6-6A252D011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464" y="643940"/>
            <a:ext cx="7844589" cy="53054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5815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345</Words>
  <Application>Microsoft Office PowerPoint</Application>
  <PresentationFormat>Widescreen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2026-10-24T03:52:51Z</dcterms:created>
  <dcterms:modified xsi:type="dcterms:W3CDTF">2026-10-27T00:12:07Z</dcterms:modified>
</cp:coreProperties>
</file>